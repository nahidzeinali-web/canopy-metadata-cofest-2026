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8" r:id="rId2"/>
    <p:sldId id="269" r:id="rId3"/>
    <p:sldId id="270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3CE73-8E67-4D68-B7C9-D858AD823C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87216-8CEE-4CB6-9D98-F4E801DB6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61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87216-8CEE-4CB6-9D98-F4E801DB6D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23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88539242400784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>
            <a:extLst>
              <a:ext uri="{FF2B5EF4-FFF2-40B4-BE49-F238E27FC236}">
                <a16:creationId xmlns:a16="http://schemas.microsoft.com/office/drawing/2014/main" id="{452CA469-87CD-4DF7-AFF3-0E8221A7210C}"/>
              </a:ext>
            </a:extLst>
          </p:cNvPr>
          <p:cNvSpPr/>
          <p:nvPr/>
        </p:nvSpPr>
        <p:spPr>
          <a:xfrm>
            <a:off x="1727200" y="1651000"/>
            <a:ext cx="8483600" cy="25400"/>
          </a:xfrm>
          <a:prstGeom prst="rect">
            <a:avLst/>
          </a:prstGeom>
          <a:solidFill>
            <a:srgbClr val="C9DBD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 dirty="0"/>
              <a:t>The Pipeline</a:t>
            </a:r>
          </a:p>
          <a:p>
            <a:pPr>
              <a:defRPr sz="1400" i="1">
                <a:solidFill>
                  <a:srgbClr val="D7EAE0"/>
                </a:solidFill>
              </a:defRPr>
            </a:pPr>
            <a:r>
              <a:rPr lang="en-US" dirty="0"/>
              <a:t>One reusable, 5-step workflow — Task 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D61BA85-62F8-46D5-BD6C-1438B6B5FE21}"/>
              </a:ext>
            </a:extLst>
          </p:cNvPr>
          <p:cNvSpPr txBox="1"/>
          <p:nvPr/>
        </p:nvSpPr>
        <p:spPr>
          <a:xfrm>
            <a:off x="330200" y="6112933"/>
            <a:ext cx="112776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sz="15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 Same 5 steps, same 4 MCP servers, run pipeline on a journal article: Chosen case (Published Paper): </a:t>
            </a:r>
          </a:p>
          <a:p>
            <a:r>
              <a:rPr lang="en-US" sz="15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Nahid Zeinali et al., “</a:t>
            </a:r>
            <a:r>
              <a:rPr lang="en-US" sz="1500" dirty="0">
                <a:solidFill>
                  <a:srgbClr val="333333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Symptom-BERT: enhancing cancer symptom detection in EHR clinical notes</a:t>
            </a:r>
            <a:r>
              <a:rPr lang="en-US" sz="15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”  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DFF34D4E-5286-4ECD-9E14-3186254B43A2}"/>
              </a:ext>
            </a:extLst>
          </p:cNvPr>
          <p:cNvSpPr/>
          <p:nvPr/>
        </p:nvSpPr>
        <p:spPr>
          <a:xfrm>
            <a:off x="457200" y="1270000"/>
            <a:ext cx="1270000" cy="4635500"/>
          </a:xfrm>
          <a:prstGeom prst="roundRect">
            <a:avLst/>
          </a:prstGeom>
          <a:solidFill>
            <a:srgbClr val="EAF3EE"/>
          </a:solidFill>
          <a:ln w="12700" cap="flat" cmpd="sng" algn="ctr">
            <a:solidFill>
              <a:srgbClr val="BCD0C4"/>
            </a:solidFill>
            <a:prstDash val="solid"/>
          </a:ln>
          <a:effectLst>
            <a:outerShdw blurRad="63500" dist="25400" dir="5400000" rotWithShape="0">
              <a:srgbClr val="0E4D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3F8FBB3-A81E-4B5D-94AA-673818EC929E}"/>
              </a:ext>
            </a:extLst>
          </p:cNvPr>
          <p:cNvSpPr txBox="1"/>
          <p:nvPr/>
        </p:nvSpPr>
        <p:spPr>
          <a:xfrm>
            <a:off x="457200" y="1473200"/>
            <a:ext cx="127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600" b="1">
                <a:solidFill>
                  <a:srgbClr val="0E4D2B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A83FF70-D563-4C04-8625-AD876E7BBBC9}"/>
              </a:ext>
            </a:extLst>
          </p:cNvPr>
          <p:cNvSpPr txBox="1"/>
          <p:nvPr/>
        </p:nvSpPr>
        <p:spPr>
          <a:xfrm>
            <a:off x="558800" y="1905000"/>
            <a:ext cx="1066800" cy="3810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Protocols
SOPs
Datasets
Data </a:t>
            </a:r>
            <a:r>
              <a:rPr lang="en-US" sz="1600" dirty="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dicts</a:t>
            </a:r>
            <a:r>
              <a:rPr lang="en-US" sz="1600" dirty="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
Results</a:t>
            </a:r>
          </a:p>
          <a:p>
            <a:pPr algn="l"/>
            <a:r>
              <a:rPr lang="en-US" sz="1600" b="1" dirty="0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Paper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907641E8-6ADD-48C2-B564-3F423E590517}"/>
              </a:ext>
            </a:extLst>
          </p:cNvPr>
          <p:cNvSpPr/>
          <p:nvPr/>
        </p:nvSpPr>
        <p:spPr>
          <a:xfrm>
            <a:off x="1955800" y="1270000"/>
            <a:ext cx="1422400" cy="4635500"/>
          </a:xfrm>
          <a:prstGeom prst="roundRect">
            <a:avLst/>
          </a:prstGeom>
          <a:solidFill>
            <a:srgbClr val="F5FAF7"/>
          </a:solidFill>
          <a:ln w="19050" cap="flat" cmpd="sng" algn="ctr">
            <a:solidFill>
              <a:srgbClr val="2E8B57"/>
            </a:solidFill>
            <a:prstDash val="solid"/>
          </a:ln>
          <a:effectLst>
            <a:outerShdw blurRad="63500" dist="25400" dir="5400000" rotWithShape="0">
              <a:srgbClr val="0E4D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917080B-3E53-4E6C-96AE-C5A00FB18242}"/>
              </a:ext>
            </a:extLst>
          </p:cNvPr>
          <p:cNvSpPr/>
          <p:nvPr/>
        </p:nvSpPr>
        <p:spPr>
          <a:xfrm>
            <a:off x="2387600" y="1371600"/>
            <a:ext cx="558800" cy="558800"/>
          </a:xfrm>
          <a:prstGeom prst="ellipse">
            <a:avLst/>
          </a:prstGeom>
          <a:solidFill>
            <a:srgbClr val="2E8B5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4A0D01F-1D1E-4CA3-93A0-A44A2E77F7CC}"/>
              </a:ext>
            </a:extLst>
          </p:cNvPr>
          <p:cNvSpPr txBox="1"/>
          <p:nvPr/>
        </p:nvSpPr>
        <p:spPr>
          <a:xfrm>
            <a:off x="1955800" y="2057400"/>
            <a:ext cx="14224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RETRIEVE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32581B-D46C-45C2-ABAC-11C1299BBC37}"/>
              </a:ext>
            </a:extLst>
          </p:cNvPr>
          <p:cNvSpPr txBox="1"/>
          <p:nvPr/>
        </p:nvSpPr>
        <p:spPr>
          <a:xfrm>
            <a:off x="2032000" y="2463800"/>
            <a:ext cx="1270000" cy="170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Get the template, or design a new one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FFDAE62A-21A6-4E4D-AF33-429A0A2ACD53}"/>
              </a:ext>
            </a:extLst>
          </p:cNvPr>
          <p:cNvSpPr/>
          <p:nvPr/>
        </p:nvSpPr>
        <p:spPr>
          <a:xfrm>
            <a:off x="3606800" y="1270000"/>
            <a:ext cx="1422400" cy="4635500"/>
          </a:xfrm>
          <a:prstGeom prst="roundRect">
            <a:avLst/>
          </a:prstGeom>
          <a:solidFill>
            <a:srgbClr val="F5FAF7"/>
          </a:solidFill>
          <a:ln w="19050" cap="flat" cmpd="sng" algn="ctr">
            <a:solidFill>
              <a:srgbClr val="267C4C"/>
            </a:solidFill>
            <a:prstDash val="solid"/>
          </a:ln>
          <a:effectLst>
            <a:outerShdw blurRad="63500" dist="25400" dir="5400000" rotWithShape="0">
              <a:srgbClr val="0E4D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6ECA03A3-B703-408A-8781-491194AC883F}"/>
              </a:ext>
            </a:extLst>
          </p:cNvPr>
          <p:cNvSpPr/>
          <p:nvPr/>
        </p:nvSpPr>
        <p:spPr>
          <a:xfrm>
            <a:off x="4038600" y="1371600"/>
            <a:ext cx="558800" cy="558800"/>
          </a:xfrm>
          <a:prstGeom prst="ellipse">
            <a:avLst/>
          </a:prstGeom>
          <a:solidFill>
            <a:srgbClr val="267C4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3CB506E8-EA42-4D14-8252-ADD5D552AE20}"/>
              </a:ext>
            </a:extLst>
          </p:cNvPr>
          <p:cNvSpPr txBox="1"/>
          <p:nvPr/>
        </p:nvSpPr>
        <p:spPr>
          <a:xfrm>
            <a:off x="3606800" y="2057400"/>
            <a:ext cx="14224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 b="1">
                <a:solidFill>
                  <a:srgbClr val="267C4C"/>
                </a:solidFill>
                <a:latin typeface="Calibri"/>
                <a:ea typeface="Calibri"/>
                <a:cs typeface="Calibri"/>
              </a:rPr>
              <a:t>POPULATE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F9B7875-A214-4CF1-9611-3E2CBBA8524B}"/>
              </a:ext>
            </a:extLst>
          </p:cNvPr>
          <p:cNvSpPr txBox="1"/>
          <p:nvPr/>
        </p:nvSpPr>
        <p:spPr>
          <a:xfrm>
            <a:off x="3683000" y="2463800"/>
            <a:ext cx="1270000" cy="170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Extract real values + live BioPortal lookups</a:t>
            </a: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258B40DC-43B7-44B9-A7F4-1A938B5F4F3A}"/>
              </a:ext>
            </a:extLst>
          </p:cNvPr>
          <p:cNvSpPr/>
          <p:nvPr/>
        </p:nvSpPr>
        <p:spPr>
          <a:xfrm>
            <a:off x="5257800" y="1270000"/>
            <a:ext cx="1422400" cy="4635500"/>
          </a:xfrm>
          <a:prstGeom prst="roundRect">
            <a:avLst/>
          </a:prstGeom>
          <a:solidFill>
            <a:srgbClr val="F5FAF7"/>
          </a:solidFill>
          <a:ln w="19050" cap="flat" cmpd="sng" algn="ctr">
            <a:solidFill>
              <a:srgbClr val="1E6C41"/>
            </a:solidFill>
            <a:prstDash val="solid"/>
          </a:ln>
          <a:effectLst>
            <a:outerShdw blurRad="63500" dist="25400" dir="5400000" rotWithShape="0">
              <a:srgbClr val="0E4D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B74C88A1-BBAA-482A-BE82-2153D98814FC}"/>
              </a:ext>
            </a:extLst>
          </p:cNvPr>
          <p:cNvSpPr/>
          <p:nvPr/>
        </p:nvSpPr>
        <p:spPr>
          <a:xfrm>
            <a:off x="5689600" y="1371600"/>
            <a:ext cx="558800" cy="558800"/>
          </a:xfrm>
          <a:prstGeom prst="ellipse">
            <a:avLst/>
          </a:prstGeom>
          <a:solidFill>
            <a:srgbClr val="1E6C4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F969229-8861-406B-8029-D481F1F463D5}"/>
              </a:ext>
            </a:extLst>
          </p:cNvPr>
          <p:cNvSpPr txBox="1"/>
          <p:nvPr/>
        </p:nvSpPr>
        <p:spPr>
          <a:xfrm>
            <a:off x="5257800" y="2057400"/>
            <a:ext cx="14224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 b="1">
                <a:solidFill>
                  <a:srgbClr val="1E6C41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CD6D3E7-E80B-4F20-AD2C-4B1B9E75B920}"/>
              </a:ext>
            </a:extLst>
          </p:cNvPr>
          <p:cNvSpPr txBox="1"/>
          <p:nvPr/>
        </p:nvSpPr>
        <p:spPr>
          <a:xfrm>
            <a:off x="5334000" y="2463800"/>
            <a:ext cx="1270000" cy="170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Validate locally and on CEDAR's server</a:t>
            </a:r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96DB1638-4744-49D2-8382-830BEB761662}"/>
              </a:ext>
            </a:extLst>
          </p:cNvPr>
          <p:cNvSpPr/>
          <p:nvPr/>
        </p:nvSpPr>
        <p:spPr>
          <a:xfrm>
            <a:off x="6908800" y="1270000"/>
            <a:ext cx="1422400" cy="4635500"/>
          </a:xfrm>
          <a:prstGeom prst="roundRect">
            <a:avLst/>
          </a:prstGeom>
          <a:solidFill>
            <a:srgbClr val="F5FAF7"/>
          </a:solidFill>
          <a:ln w="19050" cap="flat" cmpd="sng" algn="ctr">
            <a:solidFill>
              <a:srgbClr val="165D36"/>
            </a:solidFill>
            <a:prstDash val="solid"/>
          </a:ln>
          <a:effectLst>
            <a:outerShdw blurRad="63500" dist="25400" dir="5400000" rotWithShape="0">
              <a:srgbClr val="0E4D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CFADC2BE-5D58-4B5A-9D35-A5FD0B9590B0}"/>
              </a:ext>
            </a:extLst>
          </p:cNvPr>
          <p:cNvSpPr/>
          <p:nvPr/>
        </p:nvSpPr>
        <p:spPr>
          <a:xfrm>
            <a:off x="7340600" y="1371600"/>
            <a:ext cx="558800" cy="558800"/>
          </a:xfrm>
          <a:prstGeom prst="ellipse">
            <a:avLst/>
          </a:prstGeom>
          <a:solidFill>
            <a:srgbClr val="165D3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2827BE55-F01B-43E9-BD82-7974359F145C}"/>
              </a:ext>
            </a:extLst>
          </p:cNvPr>
          <p:cNvSpPr txBox="1"/>
          <p:nvPr/>
        </p:nvSpPr>
        <p:spPr>
          <a:xfrm>
            <a:off x="6908800" y="2057400"/>
            <a:ext cx="14224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 b="1">
                <a:solidFill>
                  <a:srgbClr val="165D36"/>
                </a:solidFill>
                <a:latin typeface="Calibri"/>
                <a:ea typeface="Calibri"/>
                <a:cs typeface="Calibri"/>
              </a:rPr>
              <a:t>VISUALIZE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46D9E12-5597-487B-B965-DA7294CBAC89}"/>
              </a:ext>
            </a:extLst>
          </p:cNvPr>
          <p:cNvSpPr txBox="1"/>
          <p:nvPr/>
        </p:nvSpPr>
        <p:spPr>
          <a:xfrm>
            <a:off x="6985000" y="2463800"/>
            <a:ext cx="1270000" cy="170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Preview as a live, fillable CEDAR form</a:t>
            </a: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E5CE2F9-D54E-4266-A76D-9381620BA11C}"/>
              </a:ext>
            </a:extLst>
          </p:cNvPr>
          <p:cNvSpPr/>
          <p:nvPr/>
        </p:nvSpPr>
        <p:spPr>
          <a:xfrm>
            <a:off x="8559800" y="1270000"/>
            <a:ext cx="1422400" cy="4635500"/>
          </a:xfrm>
          <a:prstGeom prst="roundRect">
            <a:avLst/>
          </a:prstGeom>
          <a:solidFill>
            <a:srgbClr val="F5FAF7"/>
          </a:solidFill>
          <a:ln w="19050" cap="flat" cmpd="sng" algn="ctr">
            <a:solidFill>
              <a:srgbClr val="0E4D2B"/>
            </a:solidFill>
            <a:prstDash val="solid"/>
          </a:ln>
          <a:effectLst>
            <a:outerShdw blurRad="63500" dist="25400" dir="5400000" rotWithShape="0">
              <a:srgbClr val="0E4D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F188CAFC-4B76-4866-AE21-05F181709408}"/>
              </a:ext>
            </a:extLst>
          </p:cNvPr>
          <p:cNvSpPr/>
          <p:nvPr/>
        </p:nvSpPr>
        <p:spPr>
          <a:xfrm>
            <a:off x="8991600" y="1371600"/>
            <a:ext cx="558800" cy="558800"/>
          </a:xfrm>
          <a:prstGeom prst="ellipse">
            <a:avLst/>
          </a:prstGeom>
          <a:solidFill>
            <a:srgbClr val="0E4D2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765C596-48AD-4AA9-9E54-F86A5C47C979}"/>
              </a:ext>
            </a:extLst>
          </p:cNvPr>
          <p:cNvSpPr txBox="1"/>
          <p:nvPr/>
        </p:nvSpPr>
        <p:spPr>
          <a:xfrm>
            <a:off x="8559800" y="2057400"/>
            <a:ext cx="14224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00" b="1">
                <a:solidFill>
                  <a:srgbClr val="0E4D2B"/>
                </a:solidFill>
                <a:latin typeface="Calibri"/>
                <a:ea typeface="Calibri"/>
                <a:cs typeface="Calibri"/>
              </a:rPr>
              <a:t>UPLOAD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22E2DCD2-1B60-4D20-BDCF-7D3747923419}"/>
              </a:ext>
            </a:extLst>
          </p:cNvPr>
          <p:cNvSpPr txBox="1"/>
          <p:nvPr/>
        </p:nvSpPr>
        <p:spPr>
          <a:xfrm>
            <a:off x="8636000" y="2463800"/>
            <a:ext cx="1270000" cy="170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Push the finished template to CEDAR</a:t>
            </a:r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8AA22132-1721-4872-9352-0F7C36C65393}"/>
              </a:ext>
            </a:extLst>
          </p:cNvPr>
          <p:cNvSpPr/>
          <p:nvPr/>
        </p:nvSpPr>
        <p:spPr>
          <a:xfrm>
            <a:off x="10210800" y="1270000"/>
            <a:ext cx="1524000" cy="4635500"/>
          </a:xfrm>
          <a:prstGeom prst="roundRect">
            <a:avLst/>
          </a:prstGeom>
          <a:solidFill>
            <a:srgbClr val="0E4D2B"/>
          </a:solidFill>
          <a:ln w="9525" cap="flat" cmpd="sng" algn="ctr">
            <a:noFill/>
            <a:prstDash val="solid"/>
          </a:ln>
          <a:effectLst>
            <a:outerShdw blurRad="63500" dist="25400" dir="5400000" rotWithShape="0">
              <a:srgbClr val="0E4D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IN
CEDAR</a:t>
            </a:r>
          </a:p>
        </p:txBody>
      </p:sp>
      <p:sp>
        <p:nvSpPr>
          <p:cNvPr id="197" name="Arrow: Right 196">
            <a:extLst>
              <a:ext uri="{FF2B5EF4-FFF2-40B4-BE49-F238E27FC236}">
                <a16:creationId xmlns:a16="http://schemas.microsoft.com/office/drawing/2014/main" id="{C4C6253D-BC1C-4150-974A-933862DF57F6}"/>
              </a:ext>
            </a:extLst>
          </p:cNvPr>
          <p:cNvSpPr/>
          <p:nvPr/>
        </p:nvSpPr>
        <p:spPr>
          <a:xfrm>
            <a:off x="1739900" y="1498600"/>
            <a:ext cx="203200" cy="304800"/>
          </a:xfrm>
          <a:prstGeom prst="rightArrow">
            <a:avLst/>
          </a:prstGeom>
          <a:solidFill>
            <a:srgbClr val="7FA49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8" name="Arrow: Right 197">
            <a:extLst>
              <a:ext uri="{FF2B5EF4-FFF2-40B4-BE49-F238E27FC236}">
                <a16:creationId xmlns:a16="http://schemas.microsoft.com/office/drawing/2014/main" id="{47443CF1-B953-41B4-BEE6-A615FCD670AC}"/>
              </a:ext>
            </a:extLst>
          </p:cNvPr>
          <p:cNvSpPr/>
          <p:nvPr/>
        </p:nvSpPr>
        <p:spPr>
          <a:xfrm>
            <a:off x="3390900" y="1498600"/>
            <a:ext cx="203200" cy="304800"/>
          </a:xfrm>
          <a:prstGeom prst="rightArrow">
            <a:avLst/>
          </a:prstGeom>
          <a:solidFill>
            <a:srgbClr val="7FA49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9" name="Arrow: Right 198">
            <a:extLst>
              <a:ext uri="{FF2B5EF4-FFF2-40B4-BE49-F238E27FC236}">
                <a16:creationId xmlns:a16="http://schemas.microsoft.com/office/drawing/2014/main" id="{B7811CCA-331B-471E-890B-150868B31911}"/>
              </a:ext>
            </a:extLst>
          </p:cNvPr>
          <p:cNvSpPr/>
          <p:nvPr/>
        </p:nvSpPr>
        <p:spPr>
          <a:xfrm>
            <a:off x="5041900" y="1498600"/>
            <a:ext cx="203200" cy="304800"/>
          </a:xfrm>
          <a:prstGeom prst="rightArrow">
            <a:avLst/>
          </a:prstGeom>
          <a:solidFill>
            <a:srgbClr val="7FA49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0" name="Arrow: Right 199">
            <a:extLst>
              <a:ext uri="{FF2B5EF4-FFF2-40B4-BE49-F238E27FC236}">
                <a16:creationId xmlns:a16="http://schemas.microsoft.com/office/drawing/2014/main" id="{EE7DB9E1-B15E-42D0-B115-7973E2BF384B}"/>
              </a:ext>
            </a:extLst>
          </p:cNvPr>
          <p:cNvSpPr/>
          <p:nvPr/>
        </p:nvSpPr>
        <p:spPr>
          <a:xfrm>
            <a:off x="6692900" y="1498600"/>
            <a:ext cx="203200" cy="304800"/>
          </a:xfrm>
          <a:prstGeom prst="rightArrow">
            <a:avLst/>
          </a:prstGeom>
          <a:solidFill>
            <a:srgbClr val="7FA49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1" name="Arrow: Right 200">
            <a:extLst>
              <a:ext uri="{FF2B5EF4-FFF2-40B4-BE49-F238E27FC236}">
                <a16:creationId xmlns:a16="http://schemas.microsoft.com/office/drawing/2014/main" id="{F51FEF30-D05A-4C25-8089-5A305730769C}"/>
              </a:ext>
            </a:extLst>
          </p:cNvPr>
          <p:cNvSpPr/>
          <p:nvPr/>
        </p:nvSpPr>
        <p:spPr>
          <a:xfrm>
            <a:off x="8343900" y="1498600"/>
            <a:ext cx="203200" cy="304800"/>
          </a:xfrm>
          <a:prstGeom prst="rightArrow">
            <a:avLst/>
          </a:prstGeom>
          <a:solidFill>
            <a:srgbClr val="7FA49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2" name="Arrow: Right 201">
            <a:extLst>
              <a:ext uri="{FF2B5EF4-FFF2-40B4-BE49-F238E27FC236}">
                <a16:creationId xmlns:a16="http://schemas.microsoft.com/office/drawing/2014/main" id="{9B3D2393-40B2-4009-B316-B902CD4E2533}"/>
              </a:ext>
            </a:extLst>
          </p:cNvPr>
          <p:cNvSpPr/>
          <p:nvPr/>
        </p:nvSpPr>
        <p:spPr>
          <a:xfrm>
            <a:off x="9994900" y="1498600"/>
            <a:ext cx="203200" cy="304800"/>
          </a:xfrm>
          <a:prstGeom prst="rightArrow">
            <a:avLst/>
          </a:prstGeom>
          <a:solidFill>
            <a:srgbClr val="7FA49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1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Task 5: Testing Reusability on Real Research</a:t>
            </a:r>
          </a:p>
          <a:p>
            <a:pPr>
              <a:defRPr sz="1400" i="1">
                <a:solidFill>
                  <a:srgbClr val="D7EAE0"/>
                </a:solidFill>
              </a:defRPr>
            </a:pPr>
            <a:r>
              <a:t>Case study — applying the same pipeline to the presenter's own published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70000"/>
            <a:ext cx="5410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</a:rPr>
              <a:t>•  </a:t>
            </a:r>
            <a:r>
              <a:rPr lang="en-US" sz="1700" b="1" dirty="0">
                <a:solidFill>
                  <a:srgbClr val="0E4D2B"/>
                </a:solidFill>
              </a:rPr>
              <a:t>“Symptom-BERT Model Metadata Template”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61000"/>
            <a:ext cx="541020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0E4D2B"/>
                </a:solidFill>
              </a:defRPr>
            </a:pPr>
            <a:r>
              <a:rPr lang="en-US" sz="150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Rendered fillable CEDAR form</a:t>
            </a:r>
            <a:endParaRPr sz="1500" i="1" dirty="0">
              <a:solidFill>
                <a:srgbClr val="55555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2EE552-B032-D36C-B365-88BE6BD8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850" y="2413000"/>
            <a:ext cx="4203700" cy="2870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5557EE-18BE-895D-83D8-1EADA05A17E7}"/>
              </a:ext>
            </a:extLst>
          </p:cNvPr>
          <p:cNvSpPr txBox="1"/>
          <p:nvPr/>
        </p:nvSpPr>
        <p:spPr>
          <a:xfrm>
            <a:off x="6324600" y="1270000"/>
            <a:ext cx="5410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500" dirty="0">
                <a:solidFill>
                  <a:srgbClr val="333333"/>
                </a:solidFill>
              </a:rPr>
              <a:t>•  </a:t>
            </a:r>
            <a:r>
              <a:rPr lang="en-US" sz="1700" b="1" dirty="0">
                <a:solidFill>
                  <a:srgbClr val="0E4D2B"/>
                </a:solidFill>
              </a:rPr>
              <a:t>“Symptom-BERT Model Metadata Instance”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3FD73B-0A9B-C9F9-A4B7-6FC010401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3000"/>
            <a:ext cx="5410200" cy="287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361919-F027-4305-B964-8C0DD239E84D}"/>
              </a:ext>
            </a:extLst>
          </p:cNvPr>
          <p:cNvSpPr txBox="1"/>
          <p:nvPr/>
        </p:nvSpPr>
        <p:spPr>
          <a:xfrm>
            <a:off x="6324600" y="5461000"/>
            <a:ext cx="5410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i="1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Instance metadata as YAML</a:t>
            </a:r>
          </a:p>
        </p:txBody>
      </p:sp>
    </p:spTree>
    <p:extLst>
      <p:ext uri="{BB962C8B-B14F-4D97-AF65-F5344CB8AC3E}">
        <p14:creationId xmlns:p14="http://schemas.microsoft.com/office/powerpoint/2010/main" val="159251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Task 5: Real Data, Real Numbers</a:t>
            </a:r>
          </a:p>
          <a:p>
            <a:pPr>
              <a:defRPr sz="1400" i="1">
                <a:solidFill>
                  <a:srgbClr val="D7EAE0"/>
                </a:solidFill>
              </a:defRPr>
            </a:pPr>
            <a:r>
              <a:rPr dirty="0"/>
              <a:t>Every value below came directly from the paper's Table 2 and Figure 3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765345"/>
              </p:ext>
            </p:extLst>
          </p:nvPr>
        </p:nvGraphicFramePr>
        <p:xfrm>
          <a:off x="365760" y="1234440"/>
          <a:ext cx="11013438" cy="5191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85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85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05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Symptom</a:t>
                      </a:r>
                    </a:p>
                  </a:txBody>
                  <a:tcPr marL="40000" marR="40000" marT="20000" marB="20000">
                    <a:solidFill>
                      <a:srgbClr val="0E4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HP Term</a:t>
                      </a:r>
                    </a:p>
                  </a:txBody>
                  <a:tcPr marL="40000" marR="40000" marT="20000" marB="20000">
                    <a:solidFill>
                      <a:srgbClr val="0E4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Gold Freq</a:t>
                      </a:r>
                    </a:p>
                  </a:txBody>
                  <a:tcPr marL="40000" marR="40000" marT="20000" marB="20000">
                    <a:solidFill>
                      <a:srgbClr val="0E4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Synth Freq</a:t>
                      </a:r>
                    </a:p>
                  </a:txBody>
                  <a:tcPr marL="40000" marR="40000" marT="20000" marB="20000">
                    <a:solidFill>
                      <a:srgbClr val="0E4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Int. F1</a:t>
                      </a:r>
                    </a:p>
                  </a:txBody>
                  <a:tcPr marL="40000" marR="40000" marT="20000" marB="20000">
                    <a:solidFill>
                      <a:srgbClr val="0E4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Int. AUC</a:t>
                      </a:r>
                    </a:p>
                  </a:txBody>
                  <a:tcPr marL="40000" marR="40000" marT="20000" marB="20000">
                    <a:solidFill>
                      <a:srgbClr val="0E4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Ext. F1</a:t>
                      </a:r>
                    </a:p>
                  </a:txBody>
                  <a:tcPr marL="40000" marR="40000" marT="20000" marB="20000">
                    <a:solidFill>
                      <a:srgbClr val="0E4D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Ext. AUC</a:t>
                      </a:r>
                    </a:p>
                  </a:txBody>
                  <a:tcPr marL="40000" marR="40000" marT="20000" marB="20000">
                    <a:solidFill>
                      <a:srgbClr val="0E4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Pruritus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Pruritus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95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21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0.985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0.995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0.833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0.812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Disturbed Sleep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Insomnia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73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28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0.978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0.985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0.796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0.778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Nausea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Nausea and vomiting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97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40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0.974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0.949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0.807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0.821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Impaired Memory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Memory impairment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70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20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0.974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0.899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0.860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0.842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Appetite Loss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Poor appetite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81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22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0.968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0.924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0.818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0.824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Fatigue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Fatigue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127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47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0.934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0.951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0.769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0.823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Pain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Pain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148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122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0.920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0.964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0.711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0.804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Shortness of Breath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Dyspnea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97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33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0.919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0.856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0.870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0.893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Constipation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Constipation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80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33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0.911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0.908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0.829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0.881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Swelling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Edema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120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42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0.910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0.936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0.747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0.712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Depressed Mood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Depression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120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21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0.898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0.902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0.920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0.912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Numbness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Paresthesia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76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24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0.882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0.895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0.899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0.888</a:t>
                      </a:r>
                    </a:p>
                  </a:txBody>
                  <a:tcPr marL="40000" marR="40000" marT="20000" marB="20000"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47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Anxiety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Anxiety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117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33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0.881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0.917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/>
                        <a:t>0.820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333333"/>
                          </a:solidFill>
                        </a:defRPr>
                      </a:pPr>
                      <a:r>
                        <a:rPr sz="1400" dirty="0"/>
                        <a:t>0.855</a:t>
                      </a:r>
                    </a:p>
                  </a:txBody>
                  <a:tcPr marL="40000" marR="40000" marT="20000" marB="2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80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CB037A-652F-4FB4-9566-D2E6FC3E15D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c8cb28d-4d4c-42ad-98d8-8694e00d99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310</Words>
  <Application>Microsoft Office PowerPoint</Application>
  <PresentationFormat>Widescreen</PresentationFormat>
  <Paragraphs>144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Nahid Zeinali</cp:lastModifiedBy>
  <cp:revision>2</cp:revision>
  <dcterms:created xsi:type="dcterms:W3CDTF">2013-01-27T09:14:16Z</dcterms:created>
  <dcterms:modified xsi:type="dcterms:W3CDTF">2026-07-18T14:23:58Z</dcterms:modified>
  <cp:category/>
</cp:coreProperties>
</file>