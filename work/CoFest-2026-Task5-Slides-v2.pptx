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Pipeline</a:t>
            </a:r>
          </a:p>
          <a:p>
            <a:pPr>
              <a:defRPr sz="1400" i="1">
                <a:solidFill>
                  <a:srgbClr val="D8E4F0"/>
                </a:solidFill>
              </a:defRPr>
            </a:pPr>
            <a:r>
              <a:t>One reusable, 5-step workflow — run unchanged across every case, including Task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874519" cy="4206240"/>
          </a:xfrm>
          <a:prstGeom prst="rect">
            <a:avLst/>
          </a:prstGeom>
          <a:solidFill>
            <a:srgbClr val="EAEFF5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9"/>
                </a:solidFill>
              </a:defRPr>
            </a:pPr>
            <a:r>
              <a:t>SOURCE MATERIALS</a:t>
            </a:r>
          </a:p>
          <a:p>
            <a:pPr algn="ctr">
              <a:spcBef>
                <a:spcPts val="800"/>
              </a:spcBef>
              <a:defRPr sz="1250">
                <a:solidFill>
                  <a:srgbClr val="333333"/>
                </a:solidFill>
              </a:defRPr>
            </a:pPr>
            <a:r>
              <a:t>• Protocols</a:t>
            </a:r>
          </a:p>
          <a:p>
            <a:pPr algn="ctr">
              <a:spcBef>
                <a:spcPts val="800"/>
              </a:spcBef>
              <a:defRPr sz="1250">
                <a:solidFill>
                  <a:srgbClr val="333333"/>
                </a:solidFill>
              </a:defRPr>
            </a:pPr>
            <a:r>
              <a:t>• SOPs</a:t>
            </a:r>
          </a:p>
          <a:p>
            <a:pPr algn="ctr">
              <a:spcBef>
                <a:spcPts val="800"/>
              </a:spcBef>
              <a:defRPr sz="1250">
                <a:solidFill>
                  <a:srgbClr val="333333"/>
                </a:solidFill>
              </a:defRPr>
            </a:pPr>
            <a:r>
              <a:t>• Datasets</a:t>
            </a:r>
          </a:p>
          <a:p>
            <a:pPr algn="ctr">
              <a:spcBef>
                <a:spcPts val="800"/>
              </a:spcBef>
              <a:defRPr sz="1250">
                <a:solidFill>
                  <a:srgbClr val="333333"/>
                </a:solidFill>
              </a:defRPr>
            </a:pPr>
            <a:r>
              <a:t>• Data dictionaries</a:t>
            </a:r>
          </a:p>
          <a:p>
            <a:pPr algn="ctr">
              <a:spcBef>
                <a:spcPts val="800"/>
              </a:spcBef>
              <a:defRPr sz="1250">
                <a:solidFill>
                  <a:srgbClr val="333333"/>
                </a:solidFill>
              </a:defRPr>
            </a:pPr>
            <a:r>
              <a:t>• Papers / results tables</a:t>
            </a:r>
          </a:p>
        </p:txBody>
      </p:sp>
      <p:sp>
        <p:nvSpPr>
          <p:cNvPr id="6" name="Chevron 5"/>
          <p:cNvSpPr/>
          <p:nvPr/>
        </p:nvSpPr>
        <p:spPr>
          <a:xfrm>
            <a:off x="2606040" y="1737360"/>
            <a:ext cx="1569110" cy="1371600"/>
          </a:xfrm>
          <a:prstGeom prst="chevron">
            <a:avLst/>
          </a:prstGeom>
          <a:solidFill>
            <a:srgbClr val="2E86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200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  RETRIEVE /</a:t>
            </a:r>
            <a:br/>
            <a: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3919118" y="1737360"/>
            <a:ext cx="1569110" cy="1371600"/>
          </a:xfrm>
          <a:prstGeom prst="chevron">
            <a:avLst/>
          </a:prstGeom>
          <a:solidFill>
            <a:srgbClr val="2872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  POPULATE</a:t>
            </a:r>
          </a:p>
        </p:txBody>
      </p:sp>
      <p:sp>
        <p:nvSpPr>
          <p:cNvPr id="8" name="Chevron 7"/>
          <p:cNvSpPr/>
          <p:nvPr/>
        </p:nvSpPr>
        <p:spPr>
          <a:xfrm>
            <a:off x="5232196" y="1737360"/>
            <a:ext cx="1569110" cy="1371600"/>
          </a:xfrm>
          <a:prstGeom prst="chevron">
            <a:avLst/>
          </a:prstGeom>
          <a:solidFill>
            <a:srgbClr val="225E9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  VALIDATE</a:t>
            </a:r>
          </a:p>
        </p:txBody>
      </p:sp>
      <p:sp>
        <p:nvSpPr>
          <p:cNvPr id="9" name="Chevron 8"/>
          <p:cNvSpPr/>
          <p:nvPr/>
        </p:nvSpPr>
        <p:spPr>
          <a:xfrm>
            <a:off x="6545274" y="1737360"/>
            <a:ext cx="1569110" cy="1371600"/>
          </a:xfrm>
          <a:prstGeom prst="chevron">
            <a:avLst/>
          </a:prstGeom>
          <a:solidFill>
            <a:srgbClr val="1C4A8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  VISUALIZE</a:t>
            </a:r>
          </a:p>
        </p:txBody>
      </p:sp>
      <p:sp>
        <p:nvSpPr>
          <p:cNvPr id="10" name="Chevron 9"/>
          <p:cNvSpPr/>
          <p:nvPr/>
        </p:nvSpPr>
        <p:spPr>
          <a:xfrm>
            <a:off x="7858352" y="1737360"/>
            <a:ext cx="1569110" cy="1371600"/>
          </a:xfrm>
          <a:prstGeom prst="chevron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 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246120"/>
            <a:ext cx="129479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Get the existing template, or design a new domain-specific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4709160"/>
            <a:ext cx="1294790" cy="685800"/>
          </a:xfrm>
          <a:prstGeom prst="rect">
            <a:avLst/>
          </a:prstGeom>
          <a:solidFill>
            <a:srgbClr val="F2F6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 b="1">
                <a:solidFill>
                  <a:srgbClr val="2E86AB"/>
                </a:solidFill>
              </a:defRPr>
            </a:pPr>
            <a:r>
              <a:t>cedar-artifact(-rest)-mcp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3438" y="3246120"/>
            <a:ext cx="129479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Extract real values from source docs + live BioPortal term lookups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3438" y="4709160"/>
            <a:ext cx="1294790" cy="685800"/>
          </a:xfrm>
          <a:prstGeom prst="rect">
            <a:avLst/>
          </a:prstGeom>
          <a:solidFill>
            <a:srgbClr val="F2F6FA"/>
          </a:solidFill>
          <a:ln w="9525">
            <a:solidFill>
              <a:srgbClr val="287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 b="1">
                <a:solidFill>
                  <a:srgbClr val="28729E"/>
                </a:solidFill>
              </a:defRPr>
            </a:pPr>
            <a:r>
              <a:t>cedar-artifact-mcp +</a:t>
            </a:r>
            <a:br/>
            <a:r>
              <a:t>bioportal-term-mcp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6516" y="3246120"/>
            <a:ext cx="129479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Check locally and against CEDAR's own server validator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6516" y="4709160"/>
            <a:ext cx="1294790" cy="685800"/>
          </a:xfrm>
          <a:prstGeom prst="rect">
            <a:avLst/>
          </a:prstGeom>
          <a:solidFill>
            <a:srgbClr val="F2F6FA"/>
          </a:solidFill>
          <a:ln w="9525">
            <a:solidFill>
              <a:srgbClr val="225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 b="1">
                <a:solidFill>
                  <a:srgbClr val="225E91"/>
                </a:solidFill>
              </a:defRPr>
            </a:pPr>
            <a:r>
              <a:t>cedar-artifact(-rest)-mcp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594" y="3246120"/>
            <a:ext cx="129479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Render as a live, fillable CEDAR form to eyeball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9594" y="4709160"/>
            <a:ext cx="1294790" cy="685800"/>
          </a:xfrm>
          <a:prstGeom prst="rect">
            <a:avLst/>
          </a:prstGeom>
          <a:solidFill>
            <a:srgbClr val="F2F6FA"/>
          </a:solidFill>
          <a:ln w="9525">
            <a:solidFill>
              <a:srgbClr val="1C4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 b="1">
                <a:solidFill>
                  <a:srgbClr val="1C4A84"/>
                </a:solidFill>
              </a:defRPr>
            </a:pPr>
            <a:r>
              <a:t>cedar-cee-mcp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2672" y="3246120"/>
            <a:ext cx="129479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Push the finished template + instance to a live CEDAR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2672" y="4709160"/>
            <a:ext cx="1294790" cy="685800"/>
          </a:xfrm>
          <a:prstGeom prst="rect">
            <a:avLst/>
          </a:prstGeom>
          <a:solidFill>
            <a:srgbClr val="F2F6FA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 b="1">
                <a:solidFill>
                  <a:srgbClr val="1F4E79"/>
                </a:solidFill>
              </a:defRPr>
            </a:pPr>
            <a:r>
              <a:t>cedar-artifact-rest-mcp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19" y="2423160.0"/>
            <a:ext cx="274321" cy="0.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217150" y="1737360"/>
            <a:ext cx="2654505" cy="1371600"/>
          </a:xfrm>
          <a:prstGeom prst="rect">
            <a:avLst/>
          </a:prstGeom>
          <a:solidFill>
            <a:srgbClr val="2EA0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LIVE IN</a:t>
            </a:r>
            <a:br/>
            <a:r>
              <a:t>CEDAR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Same 5 steps, same 4 MCP servers, run unchanged on: a journal article (tutorial) → a synthetic study (Task 1) → a 20-column dataset (Task 2/3) → the presenter's own paper (Task 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Task 5: Testing Reusability on Real Research</a:t>
            </a:r>
          </a:p>
          <a:p>
            <a:pPr>
              <a:defRPr sz="1400" i="1">
                <a:solidFill>
                  <a:srgbClr val="D8E4F0"/>
                </a:solidFill>
              </a:defRPr>
            </a:pPr>
            <a:r>
              <a:t>Case study — applying the same pipeline to the presenter's own published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t>The Test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Does the pipeline built for the provided synthetic study actually generalize — or is it secretly tuned to it?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Chosen case: Zeinali et al., “Symptom-BERT” (J Pain Symptom Manage 2024) — a machine-learning study, untouched by the pipeline, in a different domain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t>The Twist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No shareable raw data (clinical notes are private, per the paper).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Pivot: build the domain-specific template around the paper's own reported results — Table 2 (F1/AUC) + Figure 3 (symptom frequency) — instead of a raw dataset.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‒  This is the generalization: when raw data isn't available, structure the template around whatever real structured data the sources do contain.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t>What Was Built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“Symptom-BERT Model Performance Metadata Template”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Study-level fields + a repeatable “Symptom Performance” element (one entry per cancer symptom)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Symptom field bound live to the Human Phenotype Ontology (HP) via BioPortal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291840"/>
            <a:ext cx="1691640" cy="10515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13</a:t>
            </a:r>
          </a:p>
          <a:p>
            <a:pPr algn="ctr">
              <a:defRPr sz="1200">
                <a:solidFill>
                  <a:srgbClr val="D8E4F0"/>
                </a:solidFill>
              </a:defRPr>
            </a:pPr>
            <a:r>
              <a:t>symptoms populated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291840"/>
            <a:ext cx="1691640" cy="10515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200">
                <a:solidFill>
                  <a:srgbClr val="D8E4F0"/>
                </a:solidFill>
              </a:defRPr>
            </a:pPr>
            <a:r>
              <a:t>metrics per symptom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3291840"/>
            <a:ext cx="1691640" cy="10515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1200">
                <a:solidFill>
                  <a:srgbClr val="D8E4F0"/>
                </a:solidFill>
              </a:defRPr>
            </a:pPr>
            <a:r>
              <a:t>tool errors on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720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t>Live in CEDAR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Validated true — locally and via CEDAR's own server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Template + instance uploaded to a live CEDAR account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Zero tool bugs (vs. two found in Task 1) — fresh template, self-consistent property IRIs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Task 5: Real Data, Real Numbers</a:t>
            </a:r>
          </a:p>
          <a:p>
            <a:pPr>
              <a:defRPr sz="1400" i="1">
                <a:solidFill>
                  <a:srgbClr val="D8E4F0"/>
                </a:solidFill>
              </a:defRPr>
            </a:pPr>
            <a:r>
              <a:t>Every value below came directly from the paper's Table 2 and Figure 3 — nothing fabricated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778235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233"/>
                <a:gridCol w="1633160"/>
                <a:gridCol w="969689"/>
                <a:gridCol w="969689"/>
                <a:gridCol w="867616"/>
                <a:gridCol w="867616"/>
                <a:gridCol w="867616"/>
                <a:gridCol w="86761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HP Term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Gold Freq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Synth Freq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Int. F1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Int. AUC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Ext. F1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Ext. AUC</a:t>
                      </a:r>
                    </a:p>
                  </a:txBody>
                  <a:tcPr marT="20000" marB="20000" marL="40000" marR="40000"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Pruritus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Pruritus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Disturbed Sleep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Insomnia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0.796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Nausea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Nausea and vomiting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0.974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0.949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0.807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Impaired Memory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Memory impairment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0.974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0.899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0.842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Appetite Loss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Poor appetite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0.924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Fatigue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Fatigue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0.934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0.769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0.823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Pain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Pain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0.964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0.711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Shortness of Breath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Dyspnea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0.919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0.856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0.870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0.893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Constipation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Constipation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0.911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0.908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0.881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Swelling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Edema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0.936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0.747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0.712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Depressed Mood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Depression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0.902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Numbness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Paresthesia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0.882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0.899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0.888</a:t>
                      </a:r>
                    </a:p>
                  </a:txBody>
                  <a:tcPr marT="20000" marB="20000" marL="40000" marR="40000"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Anxiety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Anxiety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0.881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 marT="20000" marB="20000" marL="40000" marR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281160" y="1234440"/>
            <a:ext cx="2514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t>Takeaway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Results tables are just as valid a source for CEDAR metadata as a raw dataset.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Most published studies report results in tables long before (or instead of) sharing row-level data — arguably the more broadly applicable case.</a:t>
            </a:r>
          </a:p>
          <a:p>
            <a:pPr lvl="1"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‒  Same 5-step pipeline, unchanged, on an unseen study, a new domain, and a different data shape.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